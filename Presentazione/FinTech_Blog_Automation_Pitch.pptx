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ask: ~23 posts/day, each relevant, SEO-optimized, on-brand, and compliant, with publication automated. The one tension that shapes everything: in a regulated domain, 'automated' can't mean 'unsupervised for every post'. The goal is to auto-publish the safe majority and route the risky minority to a human -- without a person in the loop for each one. Say: 'Everything in this design follows from that one tension.'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Keyword -&gt; research -&gt; generate -&gt; SEO -&gt; internal linking -&gt; compliance/fact-check -&gt; quality gate -&gt; publish. Each box is a real step with a clear role and tech requirement (table in the design doc). Two boxes are not in a naive 'generate-and-publish' pipeline and are the whole point: fact-check/compliance and the quality gate. Say: 'Steps 1-3 were the minimum asked; I built all seven, including publishing.'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things are not linear: 1) Retry-with-feedback -- a rejected draft loops back to generation with the reasons attached (a cycle). 2) Human-in-the-loop -- escalate to review after failed retries, or immediately for high-risk topics (a conditional terminal branch). Built as a LangGraph state machine. Show the graph diagram. Say: 'These are cycles and branches -- exactly what a graph models natively and a linear script fakes with while-loops.'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web UI (run.ps1), generate one post in mock mode (no API key): 1. Watch the node-by-node timeline stream live (SSE). 2. Open the result: rendered article + SEO score + compliance/fact-check verdicts + internal links + the intermediate outputs (web research, raw draft). 3. Open Policies: add a policy, show it's stored and goes into the vector index for the next run. 4. Open Feedback: attach fake metrics to a couple of posts, hit recompute, show future keywords re-ranked by what performed. Fallback if live fails: screenshots. Keep it to 90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real risk at 700/month isn't writing one good post -- it's 700 that aren't all the same. Voice profiles -- deterministically varied tone/structure per keyword, fixed across retries (no single 'AI fingerprint'). SEO -- pure-Python (textstat, density, headings, meta, slug), zero per-post cost. Semantic duplicate detection -- flags near-duplicates before publish (Proposal 5). Say: 'I actually hit the sameness problem with the mock generator and fixed it, rather than hiding it by loosening the duplicate threshold.'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layers, both running code: LLM-as-judge (Proposal 1) -- rates the draft against written guidelines, returns reasons that feed the retry loop, fails closed on an unparseable answer. RAG fact-check (Proposal 2) -- every numeric/absolute claim ('guaranteed', 'FDIC', a rate) is checked against a Qdrant index of company policies; catches outright contradictions, not just missing grounding. Honesty slide: embeddings here are LSA (TF-IDF+SVD), offline; production upgrade is Voyage voyage-finance-2 + IBM Granite Guardian. The pattern is real; I'm not claiming the accuracy.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decision, two axes: Quality -- fails -&gt; retry with feedback, then escalate. Importance -- a sensitive topic always goes to a human, even if the draft is perfect. Not a quality failure; what it IS, not how it's written. needs_review writes a real review packet for a human queue, not just a flag. Say: 'This is how you automate aggressively and stay safe -- the gate decides what's allowed to publish itself.'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Scale: one run_for_keyword() = one queue message; N workers; Airflow/Prefect to orchestrate; managed Qdrant (one-line change); CMS + human-review queue. 5-10 workers clear 23/day with headroom. Feedback loop (Proposal 3, implemented): engagement metrics -&gt; an engagement score -&gt; future keywords re-ranked by similarity to what performed (same TF-IDF as internal linking). Endpoints + DB table + a frontend page. Tested on fake data (savings up, crypto down) -- proves the mechanism; a real uplift needs real traffic. Tunes what to write next, never compliance.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choices made to keep the prototype free, local, zero-setup -- each paired with what I'd actually do in production (full detail: Design Doc, Appendix C). Search: DuckDuckGo (free, key-less) now, Brave Search API or aggressive crawling/scraping in production. LLM: tested only with qwen2.5:1.5b locally, hosted Claude/GPT is a config switch in production, quality not proven here. Embeddings: scikit-learn LSA now, Voyage voyage-finance-2 in production -- LSA never used with a big corpus. Classifier: no classifier now (LLM-as-judge, no labelled data yet), train a cheaper more accurate classifier once the post DB has built up history. Say: 'The DB isn't just output -- it's the dataset that lets a cheap classifier replace the LLM judge later. LLM now for cold-start, classifier when the data earns it.'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'It runs end-to-end today with zero setup, and every gap is a labelled proposal -- not a hidden assumption. In a compliance context, knowing exactly where the guarantees end is part of the design.' 
Q&amp;A -- likely questions, short answers:
- Why mock by default? So the system can be verified, not just read -- and it keeps SEO/linking/routing honest against real generated Markdown.
- Why LSA and not sentence-transformers? Offline sandbox can't download weights; LSA is a real, dependency-free substitute. Production = Voyage.
- What stops it publishing something non-compliant? Three independent checks (banned phrases, LLM judge, policy RAG) must all agree, plus a topic-importance override -- any one failing escalates to a human.
- Could the feedback loop change a compliance threshold? No -- by design it tunes prioritization and presentation only; compliance stays human-owned.
- Which models did you actually test? Real generation only with qwen2.5:1.5b locally (the best model my PC runs); hosted Claude/GPT is a config switch, untested here. Logic is covered by the deterministic mock + 30 tests.
- Why no trained classifier for compliance? It needs labelled data we don't have at day zero. The post DB is accumulating exactly that history; once it's big enough, a classifier replaces the LLM judge -- cheaper and more accurate.
- Why DuckDuckGo and not a real search API? Free and key-less, enough to prove the pattern. Production = Brave Search API or heavy crawling/scraping.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151B47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4023360" cy="4023360"/>
          </a:xfrm>
          <a:prstGeom prst="ellipse">
            <a:avLst/>
          </a:prstGeom>
          <a:solidFill>
            <a:srgbClr val="151B4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CONTENT AUTOMATION — DESIGN &amp; PROTOTYPE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9692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Automating the creation of</a:t>
            </a:r>
            <a:endParaRPr lang="en-US" sz="40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700 blogs / month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7033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to end — keyword in, compliant published post out.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4526280"/>
            <a:ext cx="10607040" cy="1417320"/>
          </a:xfrm>
          <a:prstGeom prst="roundRect">
            <a:avLst>
              <a:gd name="adj" fmla="val 5161"/>
            </a:avLst>
          </a:prstGeom>
          <a:solidFill>
            <a:srgbClr val="151B4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4709160"/>
            <a:ext cx="9966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~23 posts/day. </a:t>
            </a:r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relevant, SEO-optimized, on-brand — and compliant. The tension that shapes every decision in this design: </a:t>
            </a:r>
            <a:pPr algn="l" indent="0" marL="0">
              <a:lnSpc>
                <a:spcPct val="120000"/>
              </a:lnSpc>
              <a:buNone/>
            </a:pPr>
            <a:r>
              <a:rPr lang="en-US" sz="14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can’t mean unsupervised for every post.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workflow: seven steps, one direction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243584" cy="1371600"/>
          </a:xfrm>
          <a:prstGeom prst="roundRect">
            <a:avLst>
              <a:gd name="adj" fmla="val 6618"/>
            </a:avLst>
          </a:prstGeom>
          <a:solidFill>
            <a:srgbClr val="EAF0FC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23544" y="1947672"/>
            <a:ext cx="493776" cy="49377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/home/claude/assets2/search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926" y="2076054"/>
            <a:ext cx="237012" cy="2370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84632" y="253288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1792224" y="2468880"/>
            <a:ext cx="163286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1955510" y="1783080"/>
            <a:ext cx="1243584" cy="1371600"/>
          </a:xfrm>
          <a:prstGeom prst="roundRect">
            <a:avLst>
              <a:gd name="adj" fmla="val 6618"/>
            </a:avLst>
          </a:prstGeom>
          <a:solidFill>
            <a:srgbClr val="EAF0FC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330414" y="1947672"/>
            <a:ext cx="493776" cy="49377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/home/claude/assets2/search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8795" y="2076054"/>
            <a:ext cx="237012" cy="2370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91502" y="253288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199094" y="2468880"/>
            <a:ext cx="163286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3362379" y="1783080"/>
            <a:ext cx="1243584" cy="1371600"/>
          </a:xfrm>
          <a:prstGeom prst="roundRect">
            <a:avLst>
              <a:gd name="adj" fmla="val 6618"/>
            </a:avLst>
          </a:prstGeom>
          <a:solidFill>
            <a:srgbClr val="EAF0FC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737283" y="1947672"/>
            <a:ext cx="493776" cy="49377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2" descr="/home/claude/assets2/robot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5665" y="2076054"/>
            <a:ext cx="237012" cy="2370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298371" y="253288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605963" y="2468880"/>
            <a:ext cx="163286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4769249" y="1783080"/>
            <a:ext cx="1243584" cy="1371600"/>
          </a:xfrm>
          <a:prstGeom prst="roundRect">
            <a:avLst>
              <a:gd name="adj" fmla="val 6618"/>
            </a:avLst>
          </a:prstGeom>
          <a:solidFill>
            <a:srgbClr val="EAF0FC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144153" y="1947672"/>
            <a:ext cx="493776" cy="49377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3" descr="/home/claude/assets2/chart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2535" y="2076054"/>
            <a:ext cx="237012" cy="2370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705241" y="253288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6012833" y="2468880"/>
            <a:ext cx="163286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6176119" y="1783080"/>
            <a:ext cx="1243584" cy="1371600"/>
          </a:xfrm>
          <a:prstGeom prst="roundRect">
            <a:avLst>
              <a:gd name="adj" fmla="val 6618"/>
            </a:avLst>
          </a:prstGeom>
          <a:solidFill>
            <a:srgbClr val="EAF0FC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551023" y="1947672"/>
            <a:ext cx="493776" cy="49377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6" name="Image 4" descr="/home/claude/assets2/exchange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9405" y="2076054"/>
            <a:ext cx="237012" cy="23701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112111" y="253288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Linking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7419703" y="2468880"/>
            <a:ext cx="163286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29" name="Shape 22"/>
          <p:cNvSpPr/>
          <p:nvPr/>
        </p:nvSpPr>
        <p:spPr>
          <a:xfrm>
            <a:off x="7582989" y="1783080"/>
            <a:ext cx="1243584" cy="1371600"/>
          </a:xfrm>
          <a:prstGeom prst="roundRect">
            <a:avLst>
              <a:gd name="adj" fmla="val 661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7957893" y="1947672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5" descr="/home/claude/assets2/shield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6274" y="2076054"/>
            <a:ext cx="237012" cy="23701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518981" y="253288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/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Fact-check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8826573" y="2468880"/>
            <a:ext cx="163286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34" name="Shape 26"/>
          <p:cNvSpPr/>
          <p:nvPr/>
        </p:nvSpPr>
        <p:spPr>
          <a:xfrm>
            <a:off x="8989858" y="1783080"/>
            <a:ext cx="1243584" cy="1371600"/>
          </a:xfrm>
          <a:prstGeom prst="roundRect">
            <a:avLst>
              <a:gd name="adj" fmla="val 661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9364762" y="1947672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6" name="Image 6" descr="/home/claude/assets2/balance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93144" y="2076054"/>
            <a:ext cx="237012" cy="23701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8925850" y="253288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050" dirty="0"/>
          </a:p>
        </p:txBody>
      </p:sp>
      <p:sp>
        <p:nvSpPr>
          <p:cNvPr id="38" name="Shape 29"/>
          <p:cNvSpPr/>
          <p:nvPr/>
        </p:nvSpPr>
        <p:spPr>
          <a:xfrm>
            <a:off x="10233442" y="2468880"/>
            <a:ext cx="163286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39" name="Shape 30"/>
          <p:cNvSpPr/>
          <p:nvPr/>
        </p:nvSpPr>
        <p:spPr>
          <a:xfrm>
            <a:off x="10396728" y="1783080"/>
            <a:ext cx="1243584" cy="1371600"/>
          </a:xfrm>
          <a:prstGeom prst="roundRect">
            <a:avLst>
              <a:gd name="adj" fmla="val 6618"/>
            </a:avLst>
          </a:prstGeom>
          <a:solidFill>
            <a:srgbClr val="EAF0FC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10771632" y="1947672"/>
            <a:ext cx="493776" cy="49377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41" name="Image 7" descr="/home/claude/assets2/check_nav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00014" y="2076054"/>
            <a:ext cx="237012" cy="237012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10332720" y="253288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050" dirty="0"/>
          </a:p>
        </p:txBody>
      </p:sp>
      <p:sp>
        <p:nvSpPr>
          <p:cNvPr id="43" name="Shape 33"/>
          <p:cNvSpPr/>
          <p:nvPr/>
        </p:nvSpPr>
        <p:spPr>
          <a:xfrm>
            <a:off x="548640" y="3611880"/>
            <a:ext cx="10607040" cy="914400"/>
          </a:xfrm>
          <a:prstGeom prst="roundRect">
            <a:avLst>
              <a:gd name="adj" fmla="val 8000"/>
            </a:avLst>
          </a:prstGeom>
          <a:solidFill>
            <a:srgbClr val="EAF0FC"/>
          </a:solidFill>
          <a:ln/>
        </p:spPr>
      </p:sp>
      <p:sp>
        <p:nvSpPr>
          <p:cNvPr id="44" name="Text 34"/>
          <p:cNvSpPr/>
          <p:nvPr/>
        </p:nvSpPr>
        <p:spPr>
          <a:xfrm>
            <a:off x="822960" y="37490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box </a:t>
            </a:r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real step with a clear role and a technical requirement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(full table in the design document). The two highlighted boxes are not part of a naive “generate-and-publish” pipeline — and they are the whole point.</a:t>
            </a:r>
            <a:endParaRPr lang="en-US" sz="1350" dirty="0"/>
          </a:p>
        </p:txBody>
      </p:sp>
      <p:sp>
        <p:nvSpPr>
          <p:cNvPr id="45" name="Shape 35"/>
          <p:cNvSpPr/>
          <p:nvPr/>
        </p:nvSpPr>
        <p:spPr>
          <a:xfrm>
            <a:off x="548640" y="4754880"/>
            <a:ext cx="10607040" cy="1325880"/>
          </a:xfrm>
          <a:prstGeom prst="roundRect">
            <a:avLst>
              <a:gd name="adj" fmla="val 551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6" name="Text 36"/>
          <p:cNvSpPr/>
          <p:nvPr/>
        </p:nvSpPr>
        <p:spPr>
          <a:xfrm>
            <a:off x="868680" y="4937760"/>
            <a:ext cx="9966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 1–3 were the minimum the assignment required. This build implements all seven — including publishing.</a:t>
            </a:r>
            <a:endParaRPr lang="en-US" sz="1700" dirty="0"/>
          </a:p>
        </p:txBody>
      </p:sp>
      <p:sp>
        <p:nvSpPr>
          <p:cNvPr id="47" name="Text 37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graph, not a script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things in this workflow are not linear: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120640" cy="1965960"/>
          </a:xfrm>
          <a:prstGeom prst="roundRect">
            <a:avLst>
              <a:gd name="adj" fmla="val 4186"/>
            </a:avLst>
          </a:prstGeom>
          <a:solidFill>
            <a:srgbClr val="151B4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10312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0" descr="/home/claude/assets2/graph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439" y="2233879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1214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Retry with feedback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274320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rejected draft loops back to generation with the specific rejection reasons attached — a cycle in the graph, not a one-shot call.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943600" y="1874520"/>
            <a:ext cx="5120640" cy="1965960"/>
          </a:xfrm>
          <a:prstGeom prst="roundRect">
            <a:avLst>
              <a:gd name="adj" fmla="val 4186"/>
            </a:avLst>
          </a:prstGeom>
          <a:solidFill>
            <a:srgbClr val="151B4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63640" y="210312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2" name="Image 1" descr="/home/claude/assets2/userchec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4399" y="223387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21214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Human-in-the-loop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263640" y="274320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to review after failed retries, or immediately for high-importance topics — a conditional terminal branch, reached two different ways.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548640" y="40690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as a LangGraph state machine.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548640" y="4617720"/>
            <a:ext cx="1508760" cy="868680"/>
          </a:xfrm>
          <a:prstGeom prst="roundRect">
            <a:avLst>
              <a:gd name="adj" fmla="val 8421"/>
            </a:avLst>
          </a:prstGeom>
          <a:solidFill>
            <a:srgbClr val="151B47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48640" y="461772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2057400" y="5047488"/>
            <a:ext cx="50292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2560320" y="4617720"/>
            <a:ext cx="1508760" cy="868680"/>
          </a:xfrm>
          <a:prstGeom prst="roundRect">
            <a:avLst>
              <a:gd name="adj" fmla="val 8421"/>
            </a:avLst>
          </a:prstGeom>
          <a:solidFill>
            <a:srgbClr val="151B47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560320" y="461772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069080" y="5047488"/>
            <a:ext cx="50292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22" name="Shape 18"/>
          <p:cNvSpPr/>
          <p:nvPr/>
        </p:nvSpPr>
        <p:spPr>
          <a:xfrm>
            <a:off x="4572000" y="4617720"/>
            <a:ext cx="1508760" cy="868680"/>
          </a:xfrm>
          <a:prstGeom prst="roundRect">
            <a:avLst>
              <a:gd name="adj" fmla="val 8421"/>
            </a:avLst>
          </a:prstGeom>
          <a:solidFill>
            <a:srgbClr val="151B47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572000" y="461772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080760" y="5047488"/>
            <a:ext cx="50292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25" name="Shape 21"/>
          <p:cNvSpPr/>
          <p:nvPr/>
        </p:nvSpPr>
        <p:spPr>
          <a:xfrm>
            <a:off x="6583680" y="4617720"/>
            <a:ext cx="1508760" cy="868680"/>
          </a:xfrm>
          <a:prstGeom prst="roundRect">
            <a:avLst>
              <a:gd name="adj" fmla="val 8421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583680" y="461772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1303020" y="5715000"/>
            <a:ext cx="6035040" cy="0"/>
          </a:xfrm>
          <a:prstGeom prst="line">
            <a:avLst/>
          </a:prstGeom>
          <a:noFill/>
          <a:ln w="19050">
            <a:solidFill>
              <a:srgbClr val="B3261E"/>
            </a:solidFill>
            <a:prstDash val="dash"/>
            <a:headEnd type="triangle"/>
          </a:ln>
        </p:spPr>
      </p:sp>
      <p:sp>
        <p:nvSpPr>
          <p:cNvPr id="28" name="Text 24"/>
          <p:cNvSpPr/>
          <p:nvPr/>
        </p:nvSpPr>
        <p:spPr>
          <a:xfrm>
            <a:off x="1828800" y="57881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9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+ reasons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8092440" y="5047488"/>
            <a:ext cx="6400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30" name="Shape 26"/>
          <p:cNvSpPr/>
          <p:nvPr/>
        </p:nvSpPr>
        <p:spPr>
          <a:xfrm>
            <a:off x="8732520" y="461772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5B6B8C"/>
          </a:solidFill>
          <a:ln/>
        </p:spPr>
      </p:sp>
      <p:sp>
        <p:nvSpPr>
          <p:cNvPr id="31" name="Text 27"/>
          <p:cNvSpPr/>
          <p:nvPr/>
        </p:nvSpPr>
        <p:spPr>
          <a:xfrm>
            <a:off x="8732520" y="46177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90 SECONDS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the pipeline run, node by node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1783080"/>
          </a:xfrm>
          <a:prstGeom prst="roundRect">
            <a:avLst>
              <a:gd name="adj" fmla="val 4615"/>
            </a:avLst>
          </a:prstGeom>
          <a:solidFill>
            <a:srgbClr val="EAF0FC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166360" y="187452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166360" y="1874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8" name="Image 0" descr="/home/claude/assets2/play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084832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892808"/>
            <a:ext cx="3931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pipeline in mock mode (no API key) and watch the node-by-node timeline stream live.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943600" y="1691640"/>
            <a:ext cx="5120640" cy="1783080"/>
          </a:xfrm>
          <a:prstGeom prst="roundRect">
            <a:avLst>
              <a:gd name="adj" fmla="val 4615"/>
            </a:avLst>
          </a:prstGeom>
          <a:solidFill>
            <a:srgbClr val="EAF0FC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0561320" y="187452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10561320" y="1874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17920" y="196596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4" name="Image 1" descr="/home/claude/assets2/chec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2" y="2084832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58000" y="1892808"/>
            <a:ext cx="3931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result: rendered article, SEO score, compliance/fact-check verdicts, internal links, and the intermediate outputs.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3749040"/>
            <a:ext cx="5120640" cy="1783080"/>
          </a:xfrm>
          <a:prstGeom prst="roundRect">
            <a:avLst>
              <a:gd name="adj" fmla="val 4615"/>
            </a:avLst>
          </a:prstGeom>
          <a:solidFill>
            <a:srgbClr val="EAF0FC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166360" y="393192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4"/>
          <p:cNvSpPr/>
          <p:nvPr/>
        </p:nvSpPr>
        <p:spPr>
          <a:xfrm>
            <a:off x="5166360" y="3931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22960" y="402336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0" name="Image 2" descr="/home/claude/assets2/databas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4142232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63040" y="3950208"/>
            <a:ext cx="3931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Policies: add one, see it stored and immediately part of the vector index for the next run.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943600" y="3749040"/>
            <a:ext cx="5120640" cy="1783080"/>
          </a:xfrm>
          <a:prstGeom prst="roundRect">
            <a:avLst>
              <a:gd name="adj" fmla="val 4615"/>
            </a:avLst>
          </a:prstGeom>
          <a:solidFill>
            <a:srgbClr val="EAF0FC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561320" y="393192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19"/>
          <p:cNvSpPr/>
          <p:nvPr/>
        </p:nvSpPr>
        <p:spPr>
          <a:xfrm>
            <a:off x="10561320" y="3931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6217920" y="402336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6" name="Image 3" descr="/home/claude/assets2/chart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4142232"/>
            <a:ext cx="219456" cy="21945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858000" y="3950208"/>
            <a:ext cx="3931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Feedback: attach metrics to a couple of posts, recompute, and watch future keywords get re-ranked by what performed.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548640" y="5715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if live fails: screenshots, same flow, kept to 90 seconds.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+ 3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700 posts — not 700 copies of the same post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risk at this volume isn’t writing one good post — it’s 700 that aren’t all the same.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337560" cy="2377440"/>
          </a:xfrm>
          <a:prstGeom prst="roundRect">
            <a:avLst>
              <a:gd name="adj" fmla="val 3462"/>
            </a:avLst>
          </a:prstGeom>
          <a:solidFill>
            <a:srgbClr val="151B4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24028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0" descr="/home/claude/assets2/fingerprint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2382926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90779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profiles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22960" y="3364992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Deterministically varied tone and structure per keyword, fixed across retries — no single recognizable “AI fingerprint” across the catalog.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206240" y="1965960"/>
            <a:ext cx="3337560" cy="2377440"/>
          </a:xfrm>
          <a:prstGeom prst="roundRect">
            <a:avLst>
              <a:gd name="adj" fmla="val 3462"/>
            </a:avLst>
          </a:prstGeom>
          <a:solidFill>
            <a:srgbClr val="151B4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80560" y="224028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2" name="Image 1" descr="/home/claude/assets2/chart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3206" y="2382926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80560" y="290779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SEO, in pure Python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4480560" y="3364992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textstat, keyword density, headings, meta tags, slug — zero per-post LLM cost, fully deterministic and auditable.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863840" y="1965960"/>
            <a:ext cx="3337560" cy="2377440"/>
          </a:xfrm>
          <a:prstGeom prst="roundRect">
            <a:avLst>
              <a:gd name="adj" fmla="val 3462"/>
            </a:avLst>
          </a:prstGeom>
          <a:solidFill>
            <a:srgbClr val="151B4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138160" y="224028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7" name="Image 2" descr="/home/claude/assets2/layers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806" y="2382926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138160" y="290779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duplicate detection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8138160" y="3364992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near-duplicates before publish using the same vector index as fact-checking (Proposal 5) — catches paraphrased repeats, not just shared words.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48640" y="4663440"/>
            <a:ext cx="10607040" cy="1325880"/>
          </a:xfrm>
          <a:prstGeom prst="roundRect">
            <a:avLst>
              <a:gd name="adj" fmla="val 5517"/>
            </a:avLst>
          </a:prstGeom>
          <a:solidFill>
            <a:srgbClr val="CADCFC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868680" y="4828032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actually hit the sameness problem in the mock generator — and fixed it, rather than hiding it by loosening the duplicate-detection threshold.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THE CORE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&amp; fact-checking: two layers, both running code</a:t>
            </a:r>
            <a:endParaRPr lang="en-US" sz="24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120640" cy="2651760"/>
          </a:xfrm>
          <a:prstGeom prst="roundRect">
            <a:avLst>
              <a:gd name="adj" fmla="val 3103"/>
            </a:avLst>
          </a:prstGeom>
          <a:solidFill>
            <a:srgbClr val="EAF0FC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10512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/home/claude/assets2/balanc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" y="1953158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105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LLM-as-judge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554480" y="21579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1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68680" y="260604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the draft against written company guidelines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reasons that feed directly into the retry loop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closed on an unparseable answer — never silently passes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943600" y="1554480"/>
            <a:ext cx="5120640" cy="2651760"/>
          </a:xfrm>
          <a:prstGeom prst="roundRect">
            <a:avLst>
              <a:gd name="adj" fmla="val 3103"/>
            </a:avLst>
          </a:prstGeom>
          <a:solidFill>
            <a:srgbClr val="EAF0FC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63640" y="1810512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2" name="Image 1" descr="/home/claude/assets2/shield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6286" y="1953158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18105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fact-check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6949440" y="21579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2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6263640" y="260604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numeric/absolute claim (“guaranteed”, “FDIC”, a rate) is checked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a Qdrant index of company policy documents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outright contradictions — not just missing grounding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4434840"/>
            <a:ext cx="10607040" cy="1691640"/>
          </a:xfrm>
          <a:prstGeom prst="roundRect">
            <a:avLst>
              <a:gd name="adj" fmla="val 432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868680" y="4572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Honesty, stated plainly: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868680" y="4892040"/>
            <a:ext cx="9966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here are </a:t>
            </a:r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LSA (TF-IDF + SVD), offline.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production upgrade is </a:t>
            </a:r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Voyage voyage-finance-2 + IBM Granite Guardian.</a:t>
            </a:r>
            <a:pPr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pattern is real — I’m not claiming production-grade accuracy with this stand-in.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risk-tiered gate: one decision, two axes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2148840"/>
          </a:xfrm>
          <a:prstGeom prst="roundRect">
            <a:avLst>
              <a:gd name="adj" fmla="val 3830"/>
            </a:avLst>
          </a:prstGeom>
          <a:solidFill>
            <a:srgbClr val="151B4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2880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/home/claude/assets2/balanc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439" y="195955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28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axis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68680" y="242316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→ retry with feedback, then escalate to a human after repeated failures.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943600" y="1600200"/>
            <a:ext cx="5120640" cy="2148840"/>
          </a:xfrm>
          <a:prstGeom prst="roundRect">
            <a:avLst>
              <a:gd name="adj" fmla="val 3830"/>
            </a:avLst>
          </a:prstGeom>
          <a:solidFill>
            <a:srgbClr val="151B4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63640" y="182880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/home/claude/assets2/shield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4399" y="195955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1828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Importance axis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6263640" y="242316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sensitive topic always goes to a human — even if the draft is perfect. Not a quality failure: what the topic IS, not how it’s written.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10607040" cy="9144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/>
        </p:spPr>
      </p:sp>
      <p:sp>
        <p:nvSpPr>
          <p:cNvPr id="15" name="Text 11"/>
          <p:cNvSpPr/>
          <p:nvPr/>
        </p:nvSpPr>
        <p:spPr>
          <a:xfrm>
            <a:off x="868680" y="411480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needs_review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writes a real review packet for a human queue — not just a status flag.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48640" y="5074920"/>
            <a:ext cx="10607040" cy="1051560"/>
          </a:xfrm>
          <a:prstGeom prst="roundRect">
            <a:avLst>
              <a:gd name="adj" fmla="val 6957"/>
            </a:avLst>
          </a:prstGeom>
          <a:solidFill>
            <a:srgbClr val="151B4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868680" y="521208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how you automate aggressively and stay safe: the gate decides what’s allowed to publish itself.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+ 4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Scaling the pipeline, and closing the loop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120640" cy="4160520"/>
          </a:xfrm>
          <a:prstGeom prst="roundRect">
            <a:avLst>
              <a:gd name="adj" fmla="val 1978"/>
            </a:avLst>
          </a:prstGeom>
          <a:solidFill>
            <a:srgbClr val="EAF0FC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10512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/home/claude/assets2/cogs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439" y="1941271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1051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42316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run_for_keyword() call = one queue message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workers process the queue in parallel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/ Prefect to orchestrate and monitor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Qdrant — a one-line endpoint change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+ human-review queue on the output side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68680" y="4251960"/>
            <a:ext cx="448056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425196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5–10 workers clear 23 posts/day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5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comfortable headroom.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989320" y="1554480"/>
            <a:ext cx="5120640" cy="4160520"/>
          </a:xfrm>
          <a:prstGeom prst="roundRect">
            <a:avLst>
              <a:gd name="adj" fmla="val 197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309360" y="1810512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3" name="Image 1" descr="/home/claude/assets2/exchang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0119" y="1941271"/>
            <a:ext cx="241402" cy="24140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95160" y="181051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 loop — implemented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6995160" y="21396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3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6309360" y="260604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metrics → an engagement score → 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keywords re-ranked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by similarity to what performed (same embedding index as internal linking).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309360" y="3611880"/>
            <a:ext cx="4480560" cy="777240"/>
          </a:xfrm>
          <a:prstGeom prst="roundRect">
            <a:avLst>
              <a:gd name="adj" fmla="val 8235"/>
            </a:avLst>
          </a:prstGeom>
          <a:solidFill>
            <a:srgbClr val="151B47"/>
          </a:solidFill>
          <a:ln/>
        </p:spPr>
      </p:sp>
      <p:sp>
        <p:nvSpPr>
          <p:cNvPr id="18" name="Text 14"/>
          <p:cNvSpPr/>
          <p:nvPr/>
        </p:nvSpPr>
        <p:spPr>
          <a:xfrm>
            <a:off x="6492240" y="361188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fake data (savings ↑, crypto ↓) — proves the mechanism; real uplift needs real traffic.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6309360" y="45720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Tunes what to write next.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compliance — that stays human-owned, independent of any score.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PRAGMATIC CHOICES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What’s a free/local stand-in — and the real production delta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choices made to keep the prototype free, local, and zero-setup. Full detail: Design Doc, Appendix C.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0607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206240"/>
                <a:gridCol w="45720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Prototype (now)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(real deployment)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DuckDuckGo — free, key-less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Brave Search API, or heavier crawling (Firecrawl / Crawl4AI-style)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qwen2.5:1.5b, local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Hosted Claude / GPT — a config switch, not code; quality unproven here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scikit-learn LSA (TF-IDF+SVD)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Voyage voyage-finance-2 — LSA was never tested against a large corpus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 check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LLM-as-judge — no labelled data yet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cheaper, trained classifier once the post DB has built up history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3492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548640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DB isn’t just output — it’s the dataset that lets a cheap classifier replace the LLM judge later. LLM now for cold-start, classifier once the data earns it.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What’s code today, what’s a costed proposal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120640" cy="3200400"/>
          </a:xfrm>
          <a:prstGeom prst="roundRect">
            <a:avLst>
              <a:gd name="adj" fmla="val 2571"/>
            </a:avLst>
          </a:prstGeom>
          <a:solidFill>
            <a:srgbClr val="151B47"/>
          </a:solidFill>
          <a:ln w="15875">
            <a:solidFill>
              <a:srgbClr val="1F8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91640"/>
            <a:ext cx="457200" cy="457200"/>
          </a:xfrm>
          <a:prstGeom prst="ellipse">
            <a:avLst/>
          </a:prstGeom>
          <a:solidFill>
            <a:srgbClr val="BFF0DA"/>
          </a:solidFill>
          <a:ln/>
        </p:spPr>
      </p:sp>
      <p:pic>
        <p:nvPicPr>
          <p:cNvPr id="6" name="Image 0" descr="/home/claude/assets2/chec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1051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91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Implemented — runs today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68680" y="2286000"/>
            <a:ext cx="4572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8000"/>
              </a:lnSpc>
              <a:buSzPct val="100000"/>
              <a:buChar char="✓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pipeline steps, end-to-end</a:t>
            </a:r>
            <a:endParaRPr lang="en-US" sz="1250" dirty="0"/>
          </a:p>
          <a:p>
            <a:pPr marL="342900" indent="-342900">
              <a:lnSpc>
                <a:spcPct val="128000"/>
              </a:lnSpc>
              <a:buSzPct val="100000"/>
              <a:buChar char="✓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 compliance</a:t>
            </a:r>
            <a:endParaRPr lang="en-US" sz="1250" dirty="0"/>
          </a:p>
          <a:p>
            <a:pPr marL="342900" indent="-342900">
              <a:lnSpc>
                <a:spcPct val="128000"/>
              </a:lnSpc>
              <a:buSzPct val="100000"/>
              <a:buChar char="✓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fact-check (LSA embeddings)</a:t>
            </a:r>
            <a:endParaRPr lang="en-US" sz="1250" dirty="0"/>
          </a:p>
          <a:p>
            <a:pPr marL="342900" indent="-342900">
              <a:lnSpc>
                <a:spcPct val="128000"/>
              </a:lnSpc>
              <a:buSzPct val="100000"/>
              <a:buChar char="✓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Risk-tiered gate + human review packet</a:t>
            </a:r>
            <a:endParaRPr lang="en-US" sz="1250" dirty="0"/>
          </a:p>
          <a:p>
            <a:pPr marL="342900" indent="-342900">
              <a:lnSpc>
                <a:spcPct val="128000"/>
              </a:lnSpc>
              <a:buSzPct val="100000"/>
              <a:buChar char="✓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 (keyword re-ranking)</a:t>
            </a:r>
            <a:endParaRPr lang="en-US" sz="1250" dirty="0"/>
          </a:p>
          <a:p>
            <a:pPr marL="342900" indent="-342900">
              <a:lnSpc>
                <a:spcPct val="128000"/>
              </a:lnSpc>
              <a:buSzPct val="100000"/>
              <a:buChar char="✓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duplicate detection</a:t>
            </a:r>
            <a:endParaRPr lang="en-US" sz="1250" dirty="0"/>
          </a:p>
          <a:p>
            <a:pPr marL="342900" indent="-342900">
              <a:lnSpc>
                <a:spcPct val="128000"/>
              </a:lnSpc>
              <a:buSzPct val="100000"/>
              <a:buChar char="✓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passing unit tests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035040" y="1463040"/>
            <a:ext cx="5120640" cy="3200400"/>
          </a:xfrm>
          <a:prstGeom prst="roundRect">
            <a:avLst>
              <a:gd name="adj" fmla="val 2571"/>
            </a:avLst>
          </a:prstGeom>
          <a:solidFill>
            <a:srgbClr val="151B47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09360" y="169164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/home/claude/assets2/flas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181051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03720" y="1691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Costed proposal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355080" y="2286000"/>
            <a:ext cx="4572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8000"/>
              </a:lnSpc>
              <a:buSzPct val="100000"/>
              <a:buChar char="›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Voyage embeddings + Granite Guardian</a:t>
            </a:r>
            <a:endParaRPr lang="en-US" sz="1250" dirty="0"/>
          </a:p>
          <a:p>
            <a:pPr marL="342900" indent="-342900">
              <a:lnSpc>
                <a:spcPct val="128000"/>
              </a:lnSpc>
              <a:buSzPct val="100000"/>
              <a:buChar char="›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Docling PDF ingestion</a:t>
            </a:r>
            <a:endParaRPr lang="en-US" sz="1250" dirty="0"/>
          </a:p>
          <a:p>
            <a:pPr marL="342900" indent="-342900">
              <a:lnSpc>
                <a:spcPct val="128000"/>
              </a:lnSpc>
              <a:buSzPct val="100000"/>
              <a:buChar char="›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tuning / generation guidance</a:t>
            </a:r>
            <a:endParaRPr lang="en-US" sz="1250" dirty="0"/>
          </a:p>
          <a:p>
            <a:pPr marL="342900" indent="-342900">
              <a:lnSpc>
                <a:spcPct val="128000"/>
              </a:lnSpc>
              <a:buSzPct val="100000"/>
              <a:buChar char="›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Qdrant, multi-worker fleet</a:t>
            </a:r>
            <a:endParaRPr lang="en-US" sz="1250" dirty="0"/>
          </a:p>
          <a:p>
            <a:pPr marL="342900" indent="-342900">
              <a:lnSpc>
                <a:spcPct val="128000"/>
              </a:lnSpc>
              <a:buSzPct val="100000"/>
              <a:buChar char="›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classifier (needs more data)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892040"/>
            <a:ext cx="10607040" cy="1325880"/>
          </a:xfrm>
          <a:prstGeom prst="roundRect">
            <a:avLst>
              <a:gd name="adj" fmla="val 5517"/>
            </a:avLst>
          </a:prstGeom>
          <a:solidFill>
            <a:srgbClr val="CADCFC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868680" y="5029200"/>
            <a:ext cx="9966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runs end-to-end today with zero setup, and every gap is a labelled proposal — not a hidden assumption. In a compliance context, knowing exactly where the guarantees end is part of the design.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Automating 700 FinTech Blogs/Month</dc:title>
  <dc:subject>PptxGenJS Presentation</dc:subject>
  <dc:creator>FinTech Blog Automation</dc:creator>
  <cp:lastModifiedBy>FinTech Blog Automation</cp:lastModifiedBy>
  <cp:revision>1</cp:revision>
  <dcterms:created xsi:type="dcterms:W3CDTF">2026-06-21T20:27:06Z</dcterms:created>
  <dcterms:modified xsi:type="dcterms:W3CDTF">2026-06-21T20:27:06Z</dcterms:modified>
</cp:coreProperties>
</file>